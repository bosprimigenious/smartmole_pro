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arc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43400" y="0"/>
            <a:ext cx="7863840" cy="685800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0" y="731520"/>
            <a:ext cx="64008" cy="54864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SmartMole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146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D4A84B"/>
                </a:solidFill>
                <a:latin typeface="Microsoft YaHei"/>
              </a:defRPr>
            </a:pPr>
            <a:r>
              <a:t>多模态感知智能打地鼠竞技系统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246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FCFF"/>
                </a:solidFill>
                <a:latin typeface="Microsoft YaHei"/>
              </a:defRPr>
            </a:pPr>
            <a:r>
              <a:t>OpenVela (NuttX RTOS) · 课程设计答辩 · 结题版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977639"/>
            <a:ext cx="6400800" cy="502920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050791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综合完成度约 60%  ·  如实标注 ✓ / ⚠ / 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0292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第六组</a:t>
            </a:r>
            <a:br/>
            <a:r>
              <a:t>张恒基 · 曹佳轩 · 缪钰</a:t>
            </a:r>
            <a:br/>
            <a:r>
              <a:t>郭志罡 · 张耀辉 · 朱辰骏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项目背景与动机（起-痛-机-愿）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背景与目标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起：以课程 WhackMole 基础实验为起点，OpenVela/NuttX 平台可运行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痛：单一触控、无联机竞技、无持久化与声光反馈，产品感不足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机：T113S3 板载 Wi-Fi/音频/GPIO 使多模块集成成为可能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愿：构建可答辩的嵌入式娱乐系统——闯关 + 双板联机为核心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179576"/>
            <a:ext cx="4864608" cy="4498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otivation_arc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五层目标体系（结题对照）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背景与目标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L1 基础 WhackMole — ✓ 100%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L2 多模态输入 — ⚠ 约 30%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L3 闯关 + 联机 — ✓ 约 70%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L4 声光/存储/特殊地鼠 — ⚠ 约 50%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L5 UI + WiFi 菜单 — ⚠ 约 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1042416"/>
            <a:ext cx="5779008" cy="4956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iag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已实现技术亮点（结题视角）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背景与目标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3444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234440"/>
            <a:ext cx="3520440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Microsoft YaHei"/>
              </a:defRPr>
            </a:pPr>
            <a:r>
              <a:t>五级闯关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E44"/>
                </a:solidFill>
                <a:latin typeface="Microsoft YaHei"/>
              </a:defRPr>
            </a:pPr>
            <a:r>
              <a:t>LEVEL 1–5 固定难度参数表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23444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234440"/>
            <a:ext cx="3520440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4630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Microsoft YaHei"/>
              </a:defRPr>
            </a:pPr>
            <a:r>
              <a:t>Wi-Fi 联机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92024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E44"/>
                </a:solidFill>
                <a:latin typeface="Microsoft YaHei"/>
              </a:defRPr>
            </a:pPr>
            <a:r>
              <a:t>UDP versus START/SCORE/FINISH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23444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234440"/>
            <a:ext cx="3520440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4630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Microsoft YaHei"/>
              </a:defRPr>
            </a:pPr>
            <a:r>
              <a:t>特殊地鼠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92024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E44"/>
                </a:solidFill>
                <a:latin typeface="Microsoft YaHei"/>
              </a:defRPr>
            </a:pPr>
            <a:r>
              <a:t>黄金/炸弹/COMBO 计分逻辑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47472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474720"/>
            <a:ext cx="3520440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7033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Microsoft YaHei"/>
              </a:defRPr>
            </a:pPr>
            <a:r>
              <a:t>游戏 UI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052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E44"/>
                </a:solidFill>
                <a:latin typeface="Microsoft YaHei"/>
              </a:defRPr>
            </a:pPr>
            <a:r>
              <a:t>9 洞 + 5 功能按钮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47472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474720"/>
            <a:ext cx="3520440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7033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Microsoft YaHei"/>
              </a:defRPr>
            </a:pPr>
            <a:r>
              <a:t>WiFi 菜单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16052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E44"/>
                </a:solidFill>
                <a:latin typeface="Microsoft YaHei"/>
              </a:defRPr>
            </a:pPr>
            <a:r>
              <a:t>wifi_ui.c 图形配置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347472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3474720"/>
            <a:ext cx="3520440" cy="10972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7033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Microsoft YaHei"/>
              </a:defRPr>
            </a:pPr>
            <a:r>
              <a:t>声光反馈 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16052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E44"/>
                </a:solidFill>
                <a:latin typeface="Microsoft YaHei"/>
              </a:defRPr>
            </a:pPr>
            <a:r>
              <a:t>hit.wav + GPIO LED 降级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三层架构（实际实现）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用户交互层：触摸 + K1 + LVGL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应用逻辑层：状态机 + storage + versus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驱动层：NuttX / GPIO / 音频 / wapi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开题扩展 HC-SR04 / WS2812B / littlefs 未全量落地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1042416"/>
            <a:ext cx="5779008" cy="4956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i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多线程并发模型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1042416"/>
            <a:ext cx="11265408" cy="5001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ag_thr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1556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输入与事件流（当前 vs 规划）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1042416"/>
            <a:ext cx="11265408" cy="5001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ag_ev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1556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五级闯关系统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LEVEL 1–5 独立参数：refresh_ms / show_ms / mole_count / speed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LEVEL 按钮循环选关；联机模式沿用共享关卡配置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单机：random_mole_type 黄金(15%) / 炸弹(5%) / 普通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源码：level_configs[] L52–58，apply_level_config()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179576"/>
            <a:ext cx="4864608" cy="4498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iag_mole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多模态输入 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✓ 触摸屏：9 洞命中 + 锤子光标跟随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⚠ K1：key_task 触发 START（/dev/gpio1 轮询）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× K2 半区映射：未实现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× HC-SR04 挥击：源码无驱动引用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× 统一事件队列 input_queue.c：未实现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179576"/>
            <a:ext cx="4864608" cy="4498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mbedded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Wi-Fi 双板联机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versus 模块（张耀辉 + 张恒基）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versus_rx_task 10ms 轮询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versus_ui_timer_cb 50ms 刷新 P2 分数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>
                <a:solidFill>
                  <a:srgbClr val="1A2E44"/>
                </a:solidFill>
                <a:latin typeface="Microsoft YaHei"/>
              </a:defRPr>
            </a:pPr>
            <a:r>
              <a:t>双板各自全屏，不做 LVGL 分屏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1042416"/>
            <a:ext cx="5779008" cy="4956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iag_ver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669280" cy="4846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0" y="598017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versus_protocol.c · versus_wifi_transport.c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联机 IP 锁定问题与方案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现状：config.peer_ip = "192.168.137.91"（L1103）硬编码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local_port=43046 / peer_port=43045；编译为 VERSUS_DEVICE_B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原因：联调期优先双板稳定，配置文件方案未合入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换板流程：改 IP/端口宏 → 重编译 → 烧录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后续：/data/versus.conf 或 WiFi 弹窗输入对端 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179576"/>
            <a:ext cx="4864608" cy="4498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ifi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声光反馈 ⚠（降级决策）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音效：sound_task 独立线程；8 wav 在 res.zip，仅 hit.wav 已挂钩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播放：aplay -D hw:audiocodec /data/res/hit.wav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LED：GPIO /dev/gpio0 击中闪 120ms（非 WS2812B 灯环）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降级原因：WS2812B SPI ±150ns 时序未调通，GPIO 方案可稳定演示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179576"/>
            <a:ext cx="4864608" cy="4498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icrocontroll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数据存储 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1A2E44"/>
                </a:solidFill>
                <a:latin typeface="Microsoft YaHei"/>
              </a:defRPr>
            </a:pPr>
            <a:r>
              <a:t>storage.c：/data/whackmole_stats.dat 文件持久化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1A2E44"/>
                </a:solidFill>
                <a:latin typeface="Microsoft YaHei"/>
              </a:defRPr>
            </a:pPr>
            <a:r>
              <a:t>记录：最高分、最佳连击、总局数、联机场次/胜/平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1A2E44"/>
                </a:solidFill>
                <a:latin typeface="Microsoft YaHei"/>
              </a:defRPr>
            </a:pPr>
            <a:r>
              <a:t>结算时 storage_update_result() 自动写入（L850–854）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1A2E44"/>
                </a:solidFill>
                <a:latin typeface="Microsoft YaHei"/>
              </a:defRPr>
            </a:pPr>
            <a:r>
              <a:t>STATS 按钮弹窗只读展示（替代 Top-N 排行榜 Tab）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1A2E44"/>
                </a:solidFill>
                <a:latin typeface="Microsoft YaHei"/>
              </a:defRPr>
            </a:pPr>
            <a:r>
              <a:t>未做：littlefs API、成就系统、排行榜 UI 分页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WiFi 图形连接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wifi_ui.c：LVGL 弹窗输入 SSID / 密码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SCAN → wapi scan → /data/wifi_scan.txt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CONNECT → ifup wlan0 → wapi mode/psk/essid → renew wlan0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游戏界面 WIFI 按钮（L663）一键打开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演示镜像：地鼠_WIFI图形联网版.img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179576"/>
            <a:ext cx="4864608" cy="4498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ifi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特殊地鼠 + COMBO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黄金地鼠 +5 分；炸弹地鼠 -2 分并清零 COMBO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COMBO 奖励：3 连 +1，5 连 +2，10 连 +5（get_combo_bonus）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联机模式简化计分（score_a++），特殊地鼠主要在单机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源码：random_mole_type · mole_click_event L998–1048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179576"/>
            <a:ext cx="4864608" cy="4498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iag_mole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硬件方案与降级矩阵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硬件与成本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234440"/>
          <a:ext cx="540675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411"/>
                <a:gridCol w="1437967"/>
                <a:gridCol w="690224"/>
                <a:gridCol w="2013154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选型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降级方案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超声波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HC-SR04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× 未接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纯触摸 + K1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灯效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WS2812B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× 降级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GPIO LED 闪烁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按键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K1/K2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⚠ K1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触摸为主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Wi-Fi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板载 STA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803D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wifi_ui 图形配置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存储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文件方案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2410C"/>
                          </a:solidFill>
                          <a:latin typeface="Microsoft YaHei"/>
                        </a:defRPr>
                      </a:pPr>
                      <a:r>
                        <a:t>⚠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STATS 弹窗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开发板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DshanPI T113S3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803D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17536" y="1179576"/>
            <a:ext cx="4133088" cy="43159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icrocontroll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34440"/>
            <a:ext cx="4023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团队分工（实际状态）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团队与计划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234440"/>
          <a:ext cx="5464277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374"/>
                <a:gridCol w="3163529"/>
                <a:gridCol w="1150374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成员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张恒基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集成 + WiFi UI + 联调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803D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张耀辉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versus 核心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803D"/>
                          </a:solidFill>
                          <a:latin typeface="Microsoft YaHei"/>
                        </a:defRPr>
                      </a:pPr>
                      <a:r>
                        <a:t>✓ 已验收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郭志罡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五级闯关 + 特殊地鼠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803D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缪钰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UI + 音效框架 + LED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803D"/>
                          </a:solidFill>
                          <a:latin typeface="Microsoft YaHei"/>
                        </a:defRPr>
                      </a:pPr>
                      <a:r>
                        <a:t>✓ 降级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朱辰骏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storage.c 统计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⚠ 骨架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曹佳轩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多模态输入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⚠ K1 部分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17536" y="1179576"/>
            <a:ext cx="4133088" cy="43159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am_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34440"/>
            <a:ext cx="4023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协作机制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团队与计划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versus 核心冻结：仅 IP/端口配置层可改，不改状态机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新模块通过 storage.h / wifi_ui.h 等 API 接入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Git feature 分支 → 张恒基 review → 合并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>
                <a:solidFill>
                  <a:srgbClr val="1A2E44"/>
                </a:solidFill>
                <a:latin typeface="Microsoft YaHei"/>
              </a:defRPr>
            </a:pPr>
            <a:r>
              <a:t>文档四件套：开题 / 进度 / 分工 / 结题（docs/*.typ）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179576"/>
            <a:ext cx="4864608" cy="4498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am_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四周里程碑 · 实际达成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团队与计划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1042416"/>
            <a:ext cx="11265408" cy="5001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a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1556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开题目标 vs 实际交付（12 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完成度对照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234440"/>
          <a:ext cx="850392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31520"/>
                <a:gridCol w="5029200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音效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⚠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hit.wav 已通，7 wav 待挂钩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LED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⚠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GPIO 降级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Wi-Fi 联机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versus 已验证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五级闯关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LEVEL 1–5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特殊地鼠/COMBO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已实现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游戏 UI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5 按钮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WiFi 菜单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wifi_ui.c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存储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⚠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文件 + STATS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HC-SR04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×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无代码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AI 难度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×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固定参数表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WS2812B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×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已降级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排行榜 Tab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×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未做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96012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技术创新总结 · 与基础实验对比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SmartMole Pro · 第六组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355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C"/>
                </a:solidFill>
                <a:latin typeface="Microsoft YaHei"/>
              </a:defRPr>
            </a:pPr>
            <a:r>
              <a:t>技术创新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6327648"/>
            <a:ext cx="502920" cy="347472"/>
          </a:xfrm>
          <a:prstGeom prst="roundRect">
            <a:avLst/>
          </a:prstGeom>
          <a:solidFill>
            <a:srgbClr val="006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336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234440"/>
          <a:ext cx="575186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67"/>
                <a:gridCol w="2013154"/>
                <a:gridCol w="2300748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基础 WhackMole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SmartMole Pro</a:t>
                      </a:r>
                    </a:p>
                  </a:txBody>
                  <a:tcPr anchor="t">
                    <a:solidFill>
                      <a:srgbClr val="006BB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单一触摸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触摸 + K1（部分）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难度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固定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五级闯关表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模式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单机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单机 + Wi-Fi 双板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反馈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屏幕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屏幕 + GPIO + 音效框架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数据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storage 文件持久化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联机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44"/>
                          </a:solidFill>
                          <a:latin typeface="Microsoft YaHei"/>
                        </a:defRPr>
                      </a:pPr>
                      <a:r>
                        <a:t>UDP versus 协议</a:t>
                      </a:r>
                    </a:p>
                  </a:txBody>
                  <a:tcPr anchor="t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17536" y="1179576"/>
            <a:ext cx="4133088" cy="43159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ver_arc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34440"/>
            <a:ext cx="4023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tivation_arc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2240280"/>
            <a:ext cx="1554480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2606040"/>
            <a:ext cx="92354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2606040"/>
            <a:ext cx="73152" cy="777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79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B7"/>
                </a:solidFill>
                <a:latin typeface="Microsoft YaHei"/>
              </a:defRPr>
            </a:pPr>
            <a:r>
              <a:t>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9748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2E44"/>
                </a:solidFill>
                <a:latin typeface="Microsoft YaHei"/>
              </a:defRPr>
            </a:pPr>
            <a:r>
              <a:t>五级闯关 + 双板 Wi-Fi 联机可稳定演示，结题文档齐全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474720"/>
            <a:ext cx="92354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3474720"/>
            <a:ext cx="73152" cy="777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5478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B7"/>
                </a:solidFill>
                <a:latin typeface="Microsoft YaHei"/>
              </a:defRPr>
            </a:pPr>
            <a:r>
              <a:t>沉淀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6616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2E44"/>
                </a:solidFill>
                <a:latin typeface="Microsoft YaHei"/>
              </a:defRPr>
            </a:pPr>
            <a:r>
              <a:t>NuttX 多线程 · UDP 协议 · LVGL UI · wapi WiFi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343400"/>
            <a:ext cx="92354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4343400"/>
            <a:ext cx="73152" cy="777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416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B7"/>
                </a:solidFill>
                <a:latin typeface="Microsoft YaHei"/>
              </a:defRPr>
            </a:pPr>
            <a:r>
              <a:t>待补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43484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2E44"/>
                </a:solidFill>
                <a:latin typeface="Microsoft YaHei"/>
              </a:defRPr>
            </a:pPr>
            <a:r>
              <a:t>IP 外置 · 音效全挂钩 · 超声波 · 排行榜 · WS2812B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5212080"/>
            <a:ext cx="92354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63040" y="5212080"/>
            <a:ext cx="73152" cy="777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5285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BB7"/>
                </a:solidFill>
                <a:latin typeface="Microsoft YaHei"/>
              </a:defRPr>
            </a:pPr>
            <a:r>
              <a:t>展望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30352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2E44"/>
                </a:solidFill>
                <a:latin typeface="Microsoft YaHei"/>
              </a:defRPr>
            </a:pPr>
            <a:r>
              <a:t>versus.conf 配置化 · 云端排行 · AI 微调难度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84B"/>
                </a:solidFill>
                <a:latin typeface="Microsoft YaHei"/>
              </a:defRPr>
            </a:pPr>
            <a:r>
              <a:t>THANKS · SmartMole Pro 第六组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